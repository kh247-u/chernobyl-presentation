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CHERNOBYL DISASTER  (1986)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/>
            <a:r>
              <a:t>The World's Worst Nuclear Power Plant Accident</a:t>
            </a:r>
          </a:p>
          <a:p>
            <a:pPr/>
            <a:r>
              <a:t>The World's Worst Nuclear Power Plant Accident</a:t>
            </a:r>
          </a:p>
          <a:p>
            <a:pPr/>
            <a:r>
              <a:t>Team Member: AMBADY SANTHOSH</a:t>
            </a:r>
          </a:p>
          <a:p>
            <a:pPr/>
            <a:r>
              <a:t>Team Member: AMALMON K H</a:t>
            </a:r>
          </a:p>
          <a:p>
            <a:pPr/>
            <a:r>
              <a:t>Team Member: HARIGOVIND J KARTHA</a:t>
            </a:r>
          </a:p>
          <a:p>
            <a:pPr/>
            <a:r>
              <a:t>Team Member: ABEL MATHEW PHILIP</a:t>
            </a:r>
          </a:p>
          <a:p>
            <a:pPr/>
            <a:r>
              <a:t>Team Member: GOVIND GOPAN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 What is a Nuclear Power Plant?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Nuclear Energy:  Thermal energy released by breaking atomic bonds in heavy uranium isotopes.</a:t>
            </a:r>
          </a:p>
          <a:p>
            <a:pPr/>
            <a:r>
              <a:t>Nuclear Fission:  Neutrons split Uranium-235 atoms, initiating a self-sustaining chain reaction.</a:t>
            </a:r>
          </a:p>
          <a:p>
            <a:pPr/>
            <a:r>
              <a:t>Steam Production:  Superheated coolant water vaporizes under high pressure inside the loop.</a:t>
            </a:r>
          </a:p>
          <a:p>
            <a:pPr/>
            <a:r>
              <a:t>Turbine Rotation:  High-velocity steam expands against and rotates steam turbine blades.</a:t>
            </a:r>
          </a:p>
          <a:p>
            <a:pPr/>
            <a:r>
              <a:t>Power Generation:  Spinning generator magnets convert mechanical rotation to electricity.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 About the Chernobyl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Location:  Near Pripyat, Ukrainian SSR, Soviet Union (110 km north of Kyiv).</a:t>
            </a:r>
          </a:p>
          <a:p>
            <a:pPr/>
            <a:r>
              <a:t>Reactor Type:  RBMK-1000 graphite-moderated, boiling water pressure-tube design.</a:t>
            </a:r>
          </a:p>
          <a:p>
            <a:pPr/>
            <a:r>
              <a:t>Plant Capacity:  Housed 4 operational reactors, each producing 1,000 MW of electricity.</a:t>
            </a:r>
          </a:p>
          <a:p>
            <a:pPr/>
            <a:r>
              <a:t>Reactor 4 Significance:  Completed in December 1983, it was a highly modern unit.</a:t>
            </a:r>
          </a:p>
          <a:p>
            <a:pPr/>
            <a:r>
              <a:t>Primary Purpose:  Combined power generation for the grid and plutonium synthesis.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 Why the Disaster Happened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Safety Test:  Designed to verify if spinning turbines could power cooling pumps during an outage.</a:t>
            </a:r>
          </a:p>
          <a:p>
            <a:pPr/>
            <a:r>
              <a:t>Operator Errors:  Bypassing automatic shut-down systems to maintain emergency test status.</a:t>
            </a:r>
          </a:p>
          <a:p>
            <a:pPr/>
            <a:r>
              <a:t>Reactor Instability:  Core poisoned by Xenon-135 due to prolonged low-power operations.</a:t>
            </a:r>
          </a:p>
          <a:p>
            <a:pPr/>
            <a:r>
              <a:t>Design Flaws:  Volatile RBMK layout featuring a positive void coefficient safety risk.</a:t>
            </a:r>
          </a:p>
          <a:p>
            <a:pPr/>
            <a:r>
              <a:t>Control Rod Flaw:  Graphite tips caused a localized power spike during initial insertion.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 The Explosion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AZ-5 Scram Command:  Pressed at 1:23:40 AM, but control rods jammed in the warped channels.</a:t>
            </a:r>
          </a:p>
          <a:p>
            <a:pPr/>
            <a:r>
              <a:t>Steam Explosion:  Uncontrolled power spike vaporized cooling water, blowing off the biological shield.</a:t>
            </a:r>
          </a:p>
          <a:p>
            <a:pPr/>
            <a:r>
              <a:t>Hydrogen Explosion:  Zirconium-steam reaction released hydrogen gas, triggering a secondary blast.</a:t>
            </a:r>
          </a:p>
          <a:p>
            <a:pPr/>
            <a:r>
              <a:t>Graphite Ignition:  Exposed moderator blocks ignited, feeding a 10-day high-altitude thermal fire.</a:t>
            </a:r>
          </a:p>
          <a:p>
            <a:pPr/>
            <a:r>
              <a:t>Energy Release:  Dispersed radioactive materials via thermal draft, rather than weaponized fission.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 Immediate Emergency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Responders:  Firefighters arrived within minutes with zero radiological protection gear.</a:t>
            </a:r>
          </a:p>
          <a:p>
            <a:pPr/>
            <a:r>
              <a:t>Fire Mitigation:  Focused on extinguishing roof fires on Reactor 3 to stop plant-wide spread.</a:t>
            </a:r>
          </a:p>
          <a:p>
            <a:pPr/>
            <a:r>
              <a:t>Lethal Environment:  Exposed to extreme fields up to 20,000 Roentgens per hour.</a:t>
            </a:r>
          </a:p>
          <a:p>
            <a:pPr/>
            <a:r>
              <a:t>System Ignorance:  Control room management initially refused to believe the core had exploded.</a:t>
            </a:r>
          </a:p>
          <a:p>
            <a:pPr/>
            <a:r>
              <a:t>Heroic Sacrifices:  Firemen took lethal radiation doses within minutes to contain the disaster.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 Evacuation &amp; Disaster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36-Hour Delay:  Soviet leaders initially concealed the disaster, delaying public warnings.</a:t>
            </a:r>
          </a:p>
          <a:p>
            <a:pPr/>
            <a:r>
              <a:t>Pripyat Evacuation:  49,000 residents evacuated in under 3 hours using 1,200 buses.</a:t>
            </a:r>
          </a:p>
          <a:p>
            <a:pPr/>
            <a:r>
              <a:t>Relocation Message:  Told to pack for a temporary 3-day absence; they never returned.</a:t>
            </a:r>
          </a:p>
          <a:p>
            <a:pPr/>
            <a:r>
              <a:t>Exclusion Zone:  Establishment of the 30-km perimeter to block civilian exposure.</a:t>
            </a:r>
          </a:p>
          <a:p>
            <a:pPr/>
            <a:r>
              <a:t>Total Displacement:  Over 335,000 people were permanently relocated from radioactive areas.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 Containment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Helicopter Missions:  Dropped 5,000 tons of sand, clay, lead, and boron to seal the core.</a:t>
            </a:r>
          </a:p>
          <a:p>
            <a:pPr/>
            <a:r>
              <a:t>The Sarcophagus:  Concrete dome built in extreme radiation to temporarily encase Reactor 4.</a:t>
            </a:r>
          </a:p>
          <a:p>
            <a:pPr/>
            <a:r>
              <a:t>Liquidator Forces:  Over 600,000 emergency personnel cleaned up highly contaminated areas.</a:t>
            </a:r>
          </a:p>
          <a:p>
            <a:pPr/>
            <a:r>
              <a:t>New Safe Confinement:  Steel arch positioned in 2016 to secure the core for 100 years.</a:t>
            </a:r>
          </a:p>
          <a:p>
            <a:pPr/>
            <a:r>
              <a:t>Primary Objective:  Contain radioactive dust and prevent water runoff from entering soil.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 Health Effects of the Disaster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Acute Radiation Syndrome:  Diagnosed in 134 responders; 28 died within three months.</a:t>
            </a:r>
          </a:p>
          <a:p>
            <a:pPr/>
            <a:r>
              <a:t>Thyroid Cancer:  High pediatric rates from drinking milk contaminated with Iodine-131.</a:t>
            </a:r>
          </a:p>
          <a:p>
            <a:pPr/>
            <a:r>
              <a:t>Potassium Iodide (KI):  Blocks thyroid absorption of radioactive iodine isotopes.</a:t>
            </a:r>
          </a:p>
          <a:p>
            <a:pPr/>
            <a:r>
              <a:t>Mental Health Impact:  Widespread psychological stress and anxiety from relocation trauma.</a:t>
            </a:r>
          </a:p>
          <a:p>
            <a:pPr/>
            <a:r>
              <a:t>Chronic Monitoring:  Ongoing surveillance for cataracts and cardiovascular risk.</a:t>
            </a:r>
          </a:p>
          <a:p>
            <a:pPr/>
            <a:r>
              <a:t>High dose radiation damaging bone marrow, gastrointestinal tract, and central nervous system.</a:t>
            </a:r>
          </a:p>
          <a:p>
            <a:pPr/>
            <a:r>
              <a:t>Iodine-131 concentrates in the thyroid. Highly treatable if caught early, but caused thousands of pediatric cases.</a:t>
            </a:r>
          </a:p>
          <a:p>
            <a:pPr/>
            <a:r>
              <a:t>A key preventive measure. Blocks radioactive isotope absorption. Crucial for nuclear incident planning.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 Environmental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Red Forest:  10 sq km of pine trees absorbed lethal radiation, died, and turned red.</a:t>
            </a:r>
          </a:p>
          <a:p>
            <a:pPr/>
            <a:r>
              <a:t>Atmospheric Fallout:  Wind currents carried radioactive isotopes across Europe.</a:t>
            </a:r>
          </a:p>
          <a:p>
            <a:pPr/>
            <a:r>
              <a:t>Soil Contamination:  Cesium-137 and Strontium-90 isotopes persist with 30-year half-lives.</a:t>
            </a:r>
          </a:p>
          <a:p>
            <a:pPr/>
            <a:r>
              <a:t>Water Management:  Dykes built along the Pripyat River to shield Kyiv's water reservoirs.</a:t>
            </a:r>
          </a:p>
          <a:p>
            <a:pPr/>
            <a:r>
              <a:t>Bioaccumulation:  High radiation levels found in forest berries, mushrooms, and local wildlife.</a:t>
            </a:r>
          </a:p>
          <a:p>
            <a:pPr/>
            <a:r>
              <a:t>Red Forest - </a:t>
            </a:r>
          </a:p>
          <a:p>
            <a:pPr/>
            <a:r>
              <a:t>Cesium-137 - </a:t>
            </a:r>
          </a:p>
          <a:p>
            <a:pPr/>
            <a:r>
              <a:t>Water Catch -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 Wildlife After the Disaster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Acute Mortality:  High radiation caused immediate deaths and reproductive failures.</a:t>
            </a:r>
          </a:p>
          <a:p>
            <a:pPr/>
            <a:r>
              <a:t>Unexpected Rebound:  Animal populations grew significantly inside the Exclusion Zone.</a:t>
            </a:r>
          </a:p>
          <a:p>
            <a:pPr/>
            <a:r>
              <a:t>Key Species:  Wolves, wild boars, roe deer, and endangered Przewalski's horses flourished.</a:t>
            </a:r>
          </a:p>
          <a:p>
            <a:pPr/>
            <a:r>
              <a:t>The Human Factor:  Absence of humans (hunting, farming, cars) outweighed radioactive risks.</a:t>
            </a:r>
          </a:p>
          <a:p>
            <a:pPr/>
            <a:r>
              <a:t>Genetic Studies:  Chronic low-dose exposure causes mutations, but populations remain stable.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 Deaths and Long-Term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Direct Fatalities:  2 workers killed in the blast; 1 died of coronary thrombosis.</a:t>
            </a:r>
          </a:p>
          <a:p>
            <a:pPr/>
            <a:r>
              <a:t>Emergency Crew Deaths:  28 firefighters and operators died of acute radiation exposure.</a:t>
            </a:r>
          </a:p>
          <a:p>
            <a:pPr/>
            <a:r>
              <a:t>WHO Cancer Estimate:  Projects up to 4,000 excess cancer deaths among liquidators and residents.</a:t>
            </a:r>
          </a:p>
          <a:p>
            <a:pPr/>
            <a:r>
              <a:t>UNSCEAR Calculation:  Confirms ~60 direct deaths and thyroid cancer cases to date.</a:t>
            </a:r>
          </a:p>
          <a:p>
            <a:pPr/>
            <a:r>
              <a:t>Long-term Variance:  Discrepancies exist due to differing low-dose statistical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 Lessons Learned for Disaster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Reactor Modification:  RBMK units updated to prevent void surges and increase scram speeds.</a:t>
            </a:r>
          </a:p>
          <a:p>
            <a:pPr/>
            <a:r>
              <a:t>Safety Culture:  Standardized emergency drills and prioritize safety over test quotas.</a:t>
            </a:r>
          </a:p>
          <a:p>
            <a:pPr/>
            <a:r>
              <a:t>International Oversight:  Expanded the IAEA and created the Association of Nuclear Operators.</a:t>
            </a:r>
          </a:p>
          <a:p>
            <a:pPr/>
            <a:r>
              <a:t>Emergency Protocols:  Built regional potassium iodide stockpiles and rapid warnings.</a:t>
            </a:r>
          </a:p>
          <a:p>
            <a:pPr/>
            <a:r>
              <a:t>Global Notification:  Signed treaties to quickly alert neighboring nations of transboundary leaks.</a:t>
            </a:r>
          </a:p>
          <a:p>
            <a:pPr/>
            <a:r>
              <a:t>Engineering Safety: Eliminate positive feedback loops in reactor designs.</a:t>
            </a:r>
          </a:p>
          <a:p>
            <a:pPr/>
            <a:r>
              <a:t>Global Notification: Mandatory alerts for cross-border radiation threats.</a:t>
            </a:r>
          </a:p>
          <a:p>
            <a:pPr/>
            <a:r>
              <a:t>Crisis Planning: Pre-stocked iodine and clear evacuation routes.</a:t>
            </a:r>
          </a:p>
          <a:p>
            <a:pPr/>
            <a:r>
              <a:t>Safety Culture: Allow operators to abort tests without fear of reprisal.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Disaster Management  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/>
            <a:r>
              <a:t>An avoidable industrial accident caused by design flaws and human error, releasing massive radiation.</a:t>
            </a:r>
          </a:p>
          <a:p>
            <a:pPr/>
            <a:r>
              <a:t>Marked by heroic individual sacrifice, but severely hindered by state secrecy and delayed evacuation.</a:t>
            </a:r>
          </a:p>
          <a:p>
            <a:pPr/>
            <a:r>
              <a:t>Transformed global nuclear regulations and set new standards for emergency response plans.</a:t>
            </a:r>
          </a:p>
          <a:p>
            <a:pPr/>
            <a:r>
              <a:t>"The true cost of Chernobyl was not just the physical damage, but the price of compromised safety culture and delayed transparency."</a:t>
            </a:r>
          </a:p>
          <a:p>
            <a:pPr/>
            <a:r>
              <a:t>The Event: An avoidable industrial accident caused by design flaws and human error, releasing massive radiation.</a:t>
            </a:r>
          </a:p>
          <a:p>
            <a:pPr/>
            <a:r>
              <a:t>The Response: Marked by heroic individual sacrifice, but severely hindered by state secrecy and delayed evacuation.</a:t>
            </a:r>
          </a:p>
          <a:p>
            <a:pPr/>
            <a:r>
              <a:t>The Legacy: Transformed global nuclear regulations and set new standards for emergency response plans.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/>
            <a:r>
              <a:t>Questions and Discussion</a:t>
            </a:r>
          </a:p>
          <a:p>
            <a:pPr/>
            <a:r>
              <a:t>International Atomic Energy Agency (IAEA)  - Safety Series No. 75-INSAG-7 (The Chernobyl Accident: Updating INSAG-1)</a:t>
            </a:r>
          </a:p>
          <a:p>
            <a:pPr/>
            <a:r>
              <a:t>World Health Organization (WHO)  - Health Effects of the Chernobyl Accident and Special Health Care Programmes (2006 Report)</a:t>
            </a:r>
          </a:p>
          <a:p>
            <a:pPr/>
            <a:r>
              <a:t>United Nations Scientific Committee on the Effects of Atomic Radiation (UNSCEAR)  - Sources and Effects of Ionizing Radiation (Chernobyl Annex)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